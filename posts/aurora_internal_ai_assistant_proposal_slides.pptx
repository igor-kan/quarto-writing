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notesMaster" Target="notesMasters/notesMaster1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building a private knowledge system for Aurora to handle their daily tax operations safely and accurately.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Aurora Internal AI Assistant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&amp; Financial Scoping Presentation</a:t>
            </a:r>
            <a:br/>
            <a:br/>
            <a:r>
              <a:rPr/>
              <a:t>Igor Kan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Vision: A Private “Tax Brain” for Aurora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Private, Secure AI Assistant</a:t>
            </a:r>
            <a:r>
              <a:rPr/>
              <a:t> for Aurora’s 15–17 tax professionals.</a:t>
            </a:r>
          </a:p>
          <a:p>
            <a:pPr lvl="0"/>
            <a:r>
              <a:rPr/>
              <a:t>Answers complex VAT, Corporate Tax, IFRS, and regulatory questions.</a:t>
            </a:r>
          </a:p>
          <a:p>
            <a:pPr lvl="0"/>
            <a:r>
              <a:rPr b="1"/>
              <a:t>Grounded in UAE tax law</a:t>
            </a:r>
            <a:r>
              <a:rPr/>
              <a:t> and Aurora’s internal SOPs.</a:t>
            </a:r>
          </a:p>
          <a:p>
            <a:pPr lvl="0"/>
            <a:r>
              <a:rPr b="1"/>
              <a:t>100% Data Sovereignty</a:t>
            </a:r>
            <a:r>
              <a:rPr/>
              <a:t>: All data and processing stay in the UAE.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This Proposal Different</a:t>
            </a:r>
          </a:p>
        </p:txBody>
      </p:sp>
      <p:pic>
        <p:nvPicPr>
          <p:cNvPr descr="images/mindmap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1000" y="1193800"/>
            <a:ext cx="585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Key Pillars of the Aurora AI Brain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the Team Will See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Streamlined User Experience (Chat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┌──────────────────────────────────────────────────────────────────┐
│  🔒 Aurora AI Assistant                                (Admin) │
│  ───────────────────────────────────────────────────────────────  │
│  👤 Can we recover VAT on a hotel invoice for a business trip?   │
│                                                                   │
│  🤖 No. Input VAT on hotel accommodation for business travel      │
│     outside the UAE is not recoverable under the UAE VAT law.     │
│                                                                   │
│     📎 Sources:                                                   │
│     [1] VAT Executive Regulations, Art. 54(1) ▸                   │
│     [2] FTA Public Clarification VATP012 ▸                        │
│                                                                   │
│     Confidence: ████████████░░ 92% (High)                         │
│     👍 Correct   👎 Incorrect   ⚠️ Needs Improvement              │
└──────────────────────────────────────────────────────────────────┘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Client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Instant Answers</a:t>
            </a:r>
            <a:r>
              <a:rPr/>
              <a:t>: Responses generated in 3–10 seconds.</a:t>
            </a:r>
          </a:p>
          <a:p>
            <a:pPr lvl="0"/>
            <a:r>
              <a:rPr b="1"/>
              <a:t>Mandatory Source Citations</a:t>
            </a:r>
            <a:r>
              <a:rPr/>
              <a:t>: Links directly to laws/articles/SOPs.</a:t>
            </a:r>
          </a:p>
          <a:p>
            <a:pPr lvl="0"/>
            <a:r>
              <a:rPr b="1"/>
              <a:t>Confidence Scoring</a:t>
            </a:r>
            <a:r>
              <a:rPr/>
              <a:t>: Low confidence flags for human review.</a:t>
            </a:r>
          </a:p>
          <a:p>
            <a:pPr lvl="0"/>
            <a:r>
              <a:rPr b="1"/>
              <a:t>Escalation Protocols</a:t>
            </a:r>
            <a:r>
              <a:rPr/>
              <a:t>: High-risk topics go to senior staff.</a:t>
            </a:r>
          </a:p>
          <a:p>
            <a:pPr lvl="0"/>
            <a:r>
              <a:rPr b="1"/>
              <a:t>Self-Service Admin Console</a:t>
            </a:r>
            <a:r>
              <a:rPr/>
              <a:t>: Upload documents and manage users.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Architecture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Retrieval-Augmented Generation (RAG) Flow</a:t>
            </a:r>
          </a:p>
        </p:txBody>
      </p:sp>
      <p:pic>
        <p:nvPicPr>
          <p:cNvPr descr="images/rag_pipeline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7300" y="1193800"/>
            <a:ext cx="156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RAG Retrieval &amp; Guardrail Pipeline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System Integration</a:t>
            </a:r>
          </a:p>
        </p:txBody>
      </p:sp>
      <p:pic>
        <p:nvPicPr>
          <p:cNvPr descr="images/system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731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Comprehensive System Architecture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Ingestion Flow (Self-Service)</a:t>
            </a:r>
          </a:p>
        </p:txBody>
      </p:sp>
      <p:pic>
        <p:nvPicPr>
          <p:cNvPr descr="images/document_upload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0" y="1193800"/>
            <a:ext cx="203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Admin Self-Service Document Ingestion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Google Workspace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integrates directly with Aurora’s Google ecosystem:</a:t>
            </a:r>
          </a:p>
          <a:p>
            <a:pPr lvl="0"/>
            <a:r>
              <a:rPr b="1"/>
              <a:t>Single Sign-On (SSO)</a:t>
            </a:r>
            <a:r>
              <a:rPr/>
              <a:t>: Log in using existing </a:t>
            </a:r>
            <a:r>
              <a:rPr>
                <a:latin typeface="Courier"/>
              </a:rPr>
              <a:t>@aurora.ae</a:t>
            </a:r>
            <a:r>
              <a:rPr/>
              <a:t> accounts.</a:t>
            </a:r>
          </a:p>
          <a:p>
            <a:pPr lvl="0"/>
            <a:r>
              <a:rPr b="1"/>
              <a:t>MFA Policies</a:t>
            </a:r>
            <a:r>
              <a:rPr/>
              <a:t>: Google Workspace Multi-Factor Auth applies automatically.</a:t>
            </a:r>
          </a:p>
          <a:p>
            <a:pPr lvl="0"/>
            <a:r>
              <a:rPr b="1"/>
              <a:t>Access Revocation</a:t>
            </a:r>
            <a:r>
              <a:rPr/>
              <a:t>: Disabling Google account instantly cuts off app access.</a:t>
            </a:r>
          </a:p>
          <a:p>
            <a:pPr lvl="0"/>
            <a:r>
              <a:rPr b="1"/>
              <a:t>Future Google Drive Sync</a:t>
            </a:r>
            <a:r>
              <a:rPr/>
              <a:t>: Auto-ingest files from shared Drive folders.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Phased Delivery Plan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1A — MVP (Weeks 1–4)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Goal</a:t>
            </a:r>
            <a:r>
              <a:rPr/>
              <a:t>: Basic Q&amp;A on core VAT/CT, Google SSO, and source citations.</a:t>
            </a:r>
          </a:p>
        </p:txBody>
      </p:sp>
      <p:pic>
        <p:nvPicPr>
          <p:cNvPr descr="images/phase_1a_gant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2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Phase 1A Gantt Schedule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Phase 1B — Enterprise (Weeks 5–10)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Goal</a:t>
            </a:r>
            <a:r>
              <a:rPr/>
              <a:t>: Streaming answers, admin console, audit logging, and Azure deployment.</a:t>
            </a:r>
          </a:p>
        </p:txBody>
      </p:sp>
      <p:pic>
        <p:nvPicPr>
          <p:cNvPr descr="images/phase_1b_gant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2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Phase 1B Gantt Schedule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— Future Expansion Roadmap</a:t>
            </a:r>
          </a:p>
        </p:txBody>
      </p:sp>
      <p:pic>
        <p:nvPicPr>
          <p:cNvPr descr="images/phase_2_road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Aurora OS Modular Modules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Financial &amp; Scoping Comparison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 Development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1422400"/>
                <a:gridCol w="1422400"/>
                <a:gridCol w="1422400"/>
                <a:gridCol w="1422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Market Rate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Our Price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Our Price (AED)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1A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RAG, Google SSO, Citations, Escalation, MVP 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$7,500 – $13,200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2,644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~90–95%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1B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Streaming, Admin panel, Audit logging, Azure UAE 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$8,000 – $14,000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2,644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~91–95%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Complete Phase 1 Production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$15,500 – $27,200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$1,440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5,288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~90–95%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 on Development Tool Expenses</a:t>
            </a:r>
          </a:p>
          <a:p>
            <a:pPr lvl="0" indent="0" marL="1270000">
              <a:buNone/>
            </a:pPr>
            <a:r>
              <a:rPr sz="2000"/>
              <a:t>These prices cover labor only. Ongoing monthly infrastructure costs and self-funded dev tools are billed directly to their respective accounts.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 Optional Expansion Modules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1422400"/>
                <a:gridCol w="1422400"/>
                <a:gridCol w="1422400"/>
                <a:gridCol w="1422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Market Rate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Our Price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Our Price (AED)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2A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Arabic, Google Drive sync, consensus, advanced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$8,000 – $15,000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$670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2,460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~91–96%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2B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OCR/document processing, VAT compliance check, doc register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$10,000 – $20,000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$890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3,268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~91–96%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Phase 2C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portal, workflow engine, accounting API, QA 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$15,000 – $30,000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$1,340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4,921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~91–96%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 Aurora OS 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~26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$33,000 – $65,000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$2,900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10,650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~91–96%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 Infrastructure &amp; Monthly Costs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standard cloud costs paid directly to Microsoft Azure: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1346200"/>
                <a:gridCol w="1346200"/>
                <a:gridCol w="80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SKU /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Monthly Cost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Monthly Cost (AED)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OpenAI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GPT-4o pay-as-you-go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$30 – $90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110 – 331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Based on 15 users, 30–80 queries/day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OpenAI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text-embedding-3-small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&lt;$1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&lt;4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 search model costs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Container Apps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Compute (0.5 vCPU / 1 GiB)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$0 – $15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 – 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Serverless, scale-to-zero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PostgreSQL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B1ms server + 32 GiB 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$15 – 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55 – 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Burstable DB for user info and logs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Azure Storage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Blob Storage Hot tier (~1 GB)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$0.50 – $1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 –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PDFs + logs storage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Domain &amp; TLS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domain TLS cert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$1 – $3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 – 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 custom routing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Monthly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$47 – $130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173 – 477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Conservative cost estimate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Security, Compliance &amp; Setup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Security Design</a:t>
            </a:r>
          </a:p>
        </p:txBody>
      </p:sp>
      <p:pic>
        <p:nvPicPr>
          <p:cNvPr descr="images/security_network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66800" y="1193800"/>
            <a:ext cx="702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Secured Azure VNet Architecture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Mapping Checklist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 Brief Requirement (§6)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Implementation Strategy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 model training on Aurora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OpenAI Enterprise terms guarantee zero data retention.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Encryption in Transit &amp; 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1.3 for connections; AES-256 for PostgreSQL, Blobs, and Logs.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Role-Based Access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Admin, Tax Manager, Senior, Junior, Auditor roles.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Tamper-Evident Audit Logs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Implemented using Azure Immutable Blob Storage.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Residency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resources hosted in Azure UAE North data center (Dubai).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Immediate Revocation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Workspace account termination disables system access instantly.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Prototype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starting with a </a:t>
            </a:r>
            <a:r>
              <a:rPr b="1"/>
              <a:t>fully functional prototype</a:t>
            </a:r>
            <a:r>
              <a:rPr/>
              <a:t>, not from scratch:</a:t>
            </a:r>
          </a:p>
          <a:p>
            <a:pPr lvl="0"/>
            <a:r>
              <a:rPr b="1"/>
              <a:t>Backend API</a:t>
            </a:r>
            <a:r>
              <a:rPr/>
              <a:t>: Python FastAPI (5+ routes) is ready.</a:t>
            </a:r>
          </a:p>
          <a:p>
            <a:pPr lvl="0"/>
            <a:r>
              <a:rPr b="1"/>
              <a:t>RAG Pipeline</a:t>
            </a:r>
            <a:r>
              <a:rPr/>
              <a:t>: LlamaIndex and pgvector indexing is functional.</a:t>
            </a:r>
          </a:p>
          <a:p>
            <a:pPr lvl="0"/>
            <a:r>
              <a:rPr b="1"/>
              <a:t>Frontend UI</a:t>
            </a:r>
            <a:r>
              <a:rPr/>
              <a:t>: Next.js Chat, Admin, and Audit pages are built.</a:t>
            </a:r>
          </a:p>
          <a:p>
            <a:pPr lvl="0"/>
            <a:r>
              <a:rPr b="1"/>
              <a:t>SSO &amp; RBAC</a:t>
            </a:r>
            <a:r>
              <a:rPr/>
              <a:t>: Auth.js with Google login and 5 roles is wired.</a:t>
            </a:r>
          </a:p>
          <a:p>
            <a:pPr lvl="0"/>
            <a:r>
              <a:rPr b="1"/>
              <a:t>Testing</a:t>
            </a:r>
            <a:r>
              <a:rPr/>
              <a:t>: 7 end-to-end automated tests are passing.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Contract Terms &amp; Timeline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IP Ownership</a:t>
            </a:r>
            <a:r>
              <a:rPr/>
              <a:t>: 100% ownership transferred to Aurora upon final payment.</a:t>
            </a:r>
          </a:p>
          <a:p>
            <a:pPr lvl="0"/>
            <a:r>
              <a:rPr b="1"/>
              <a:t>Support</a:t>
            </a:r>
            <a:r>
              <a:rPr/>
              <a:t>: 2–3 months post-launch support included.</a:t>
            </a:r>
          </a:p>
          <a:p>
            <a:pPr lvl="0"/>
            <a:r>
              <a:rPr b="1"/>
              <a:t>Payment Schedule</a:t>
            </a:r>
            <a:r>
              <a:rPr/>
              <a:t>: 0% upfront (infra/tools direct) / 50% at MVP ($720 / 2,644 AED) / 50% at Launch ($720 / 2,644 AED).</a:t>
            </a:r>
          </a:p>
        </p:txBody>
      </p:sp>
      <p:pic>
        <p:nvPicPr>
          <p:cNvPr descr="images/payment_schedule_visualiz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87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Milestones &amp; Payment Structure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Approve proposal</a:t>
            </a:r>
            <a:r>
              <a:rPr/>
              <a:t> and confirm budget ($1,440 Phase 1).</a:t>
            </a:r>
          </a:p>
          <a:p>
            <a:pPr lvl="0" indent="-342900" marL="342900">
              <a:buAutoNum type="arabicPeriod"/>
            </a:pPr>
            <a:r>
              <a:rPr b="1"/>
              <a:t>Sign mutual NDA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Provide initial 50–80 files</a:t>
            </a:r>
            <a:r>
              <a:rPr/>
              <a:t> (PDFs/DOCXs).</a:t>
            </a:r>
          </a:p>
          <a:p>
            <a:pPr lvl="0" indent="-342900" marL="342900">
              <a:buAutoNum type="arabicPeriod"/>
            </a:pPr>
            <a:r>
              <a:rPr b="1"/>
              <a:t>Provision Azure subscription</a:t>
            </a:r>
            <a:r>
              <a:rPr/>
              <a:t> for UAE North deployment.</a:t>
            </a:r>
          </a:p>
          <a:p>
            <a:pPr lvl="0" indent="-342900" marL="342900">
              <a:buAutoNum type="arabicPeriod"/>
            </a:pPr>
            <a:r>
              <a:rPr b="1"/>
              <a:t>Onboard staff list</a:t>
            </a:r>
            <a:r>
              <a:rPr/>
              <a:t> (emails and roles).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Internal AI Assistant Proposal</dc:title>
  <dc:creator>Igor Kan</dc:creator>
  <cp:keywords/>
  <dcterms:created xsi:type="dcterms:W3CDTF">2026-06-28T18:03:32Z</dcterms:created>
  <dcterms:modified xsi:type="dcterms:W3CDTF">2026-06-28T18:03:32Z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Technical &amp; Financial Scoping Presentation</vt:lpwstr>
  </property>
  <property fmtid="{D5CDD505-2E9C-101B-9397-08002B2CF9AE}" pid="11" name="toc-title">
    <vt:lpwstr>Table of contents</vt:lpwstr>
  </property>
</Properties>
</file>